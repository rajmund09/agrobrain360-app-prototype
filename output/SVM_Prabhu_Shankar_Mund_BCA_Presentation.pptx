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9144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18288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54864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59436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914400"/>
            <a:ext cx="274320" cy="27432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0" y="-1828800"/>
            <a:ext cx="5486400" cy="54864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2121408"/>
            <a:ext cx="5943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64BA2"/>
                </a:solidFill>
                <a:latin typeface="Arial Black"/>
              </a:defRPr>
            </a:pPr>
            <a:r>
              <a:t>Support Vector</a:t>
            </a:r>
            <a:br/>
            <a:r>
              <a:t>Machine (SVM)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Support Vector</a:t>
            </a:r>
            <a:br/>
            <a:r>
              <a:t>Machine (SVM)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93FB"/>
                </a:solidFill>
                <a:latin typeface="Calibri"/>
              </a:defRPr>
            </a:pPr>
            <a:r>
              <a:t>Machine Learning using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754880"/>
            <a:ext cx="64008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F"/>
                </a:solidFill>
                <a:latin typeface="Calibri"/>
              </a:defRPr>
            </a:pPr>
            <a:r>
              <a:t>Presented by: Prabhu Shankar Mund aka Raj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94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8"/>
                </a:solidFill>
                <a:latin typeface="Calibri"/>
              </a:defRPr>
            </a:pPr>
            <a:r>
              <a:t>Registration No: 240714100093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8521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8"/>
                </a:solidFill>
                <a:latin typeface="Calibri"/>
              </a:defRPr>
            </a:pPr>
            <a:r>
              <a:t>Course: BCA (Bachelor of Computer Applications)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28600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74320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400" b="0">
                <a:solidFill>
                  <a:srgbClr val="F0F0FF"/>
                </a:solidFill>
                <a:latin typeface="Calibri"/>
              </a:defRPr>
            </a:pPr>
            <a:r>
              <a:t>    SVM VISUAL</a:t>
            </a:r>
            <a:br/>
            <a:r>
              <a:t>    </a:t>
            </a:r>
            <a:br/>
            <a:r>
              <a:t>      ○     ●</a:t>
            </a:r>
            <a:br/>
            <a:r>
              <a:t>    ○   ╱╲   ●</a:t>
            </a:r>
            <a:br/>
            <a:r>
              <a:t>      ╱ ★ ╲</a:t>
            </a:r>
            <a:br/>
            <a:r>
              <a:t>    ○   ╲╱   ●</a:t>
            </a:r>
            <a:br/>
            <a:r>
              <a:t>      ○     ●</a:t>
            </a:r>
            <a:br/>
            <a:r>
              <a:t>    </a:t>
            </a:r>
            <a:br/>
            <a:r>
              <a:t>  ○ Class A    ● Class B</a:t>
            </a:r>
            <a:br/>
            <a:r>
              <a:t>  ★ Support Vector</a:t>
            </a:r>
            <a:b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02  |  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67EEA"/>
                </a:solidFill>
                <a:latin typeface="Calibri"/>
              </a:defRPr>
            </a:pPr>
            <a:r>
              <a:t>What is Support Vector Machine?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0F0FF"/>
                </a:solidFill>
                <a:latin typeface="Calibri"/>
              </a:defRPr>
            </a:pPr>
            <a:r>
              <a:t>Support Vector Machine (SVM) is a powerful supervised machine learning algorithm that analyzes data for classification and regression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C8FF"/>
                </a:solidFill>
                <a:latin typeface="Calibri"/>
              </a:defRPr>
            </a:pPr>
            <a:r>
              <a:t>Primary Uses: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0FF"/>
                </a:solidFill>
                <a:latin typeface="Calibri"/>
              </a:defRPr>
            </a:pPr>
            <a:r>
              <a:t>▸  Classification Tasks</a:t>
            </a:r>
          </a:p>
          <a:p>
            <a:pPr>
              <a:spcAft>
                <a:spcPts val="1200"/>
              </a:spcAft>
              <a:defRPr sz="1800">
                <a:solidFill>
                  <a:srgbClr val="F0F0FF"/>
                </a:solidFill>
                <a:latin typeface="Calibri"/>
              </a:defRPr>
            </a:pPr>
            <a:r>
              <a:t>▸  Regression Analysis</a:t>
            </a:r>
          </a:p>
          <a:p>
            <a:pPr>
              <a:spcAft>
                <a:spcPts val="1200"/>
              </a:spcAft>
              <a:defRPr sz="1800">
                <a:solidFill>
                  <a:srgbClr val="F0F0FF"/>
                </a:solidFill>
                <a:latin typeface="Calibri"/>
              </a:defRPr>
            </a:pPr>
            <a:r>
              <a:t>▸  Pattern Recognition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4747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93FB"/>
                </a:solidFill>
                <a:latin typeface="Calibri"/>
              </a:defRPr>
            </a:pPr>
            <a:r>
              <a:t>Core Objective: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0FF"/>
                </a:solidFill>
                <a:latin typeface="Calibri"/>
              </a:defRPr>
            </a:pPr>
            <a:r>
              <a:t>▸  Find optimal hyperplane</a:t>
            </a:r>
          </a:p>
          <a:p>
            <a:pPr>
              <a:spcAft>
                <a:spcPts val="1200"/>
              </a:spcAft>
              <a:defRPr sz="1800">
                <a:solidFill>
                  <a:srgbClr val="F0F0FF"/>
                </a:solidFill>
                <a:latin typeface="Calibri"/>
              </a:defRPr>
            </a:pPr>
            <a:r>
              <a:t>▸  Maximize separation margin</a:t>
            </a:r>
          </a:p>
          <a:p>
            <a:pPr>
              <a:spcAft>
                <a:spcPts val="1200"/>
              </a:spcAft>
              <a:defRPr sz="1800">
                <a:solidFill>
                  <a:srgbClr val="F0F0FF"/>
                </a:solidFill>
                <a:latin typeface="Calibri"/>
              </a:defRPr>
            </a:pPr>
            <a:r>
              <a:t>▸  Best decision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  |  Basic Idea of SVM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645920"/>
            <a:ext cx="914400" cy="9144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Labeled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C8"/>
                </a:solidFill>
                <a:latin typeface="Calibri"/>
              </a:defRPr>
            </a:pPr>
            <a:r>
              <a:t>Works on data with known outcomes and categories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80" y="1645920"/>
            <a:ext cx="914400" cy="914400"/>
          </a:xfrm>
          <a:prstGeom prst="ellipse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C8"/>
                </a:solidFill>
                <a:latin typeface="Calibri"/>
              </a:defRPr>
            </a:pPr>
            <a:r>
              <a:t>Divides data points into distinct classes efficiently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0" y="1645920"/>
            <a:ext cx="914400" cy="91440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651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Maximum Distance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004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C8"/>
                </a:solidFill>
                <a:latin typeface="Calibri"/>
              </a:defRPr>
            </a:pPr>
            <a:r>
              <a:t>Chooses boundary with optimal separation 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4846320"/>
            <a:ext cx="6675120" cy="1371600"/>
          </a:xfrm>
          <a:prstGeom prst="roundRect">
            <a:avLst>
              <a:gd name="adj" fmla="val 5000"/>
            </a:avLst>
          </a:prstGeom>
          <a:solidFill>
            <a:srgbClr val="FFC864"/>
          </a:solidFill>
          <a:ln w="1905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50292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C864"/>
                </a:solidFill>
                <a:latin typeface="Calibri"/>
              </a:defRPr>
            </a:pPr>
            <a:r>
              <a:t>💡 Best boundary = Optimal Hyperplane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04  |  Hyperplane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64C8FF"/>
                </a:solidFill>
                <a:latin typeface="Calibri"/>
              </a:defRPr>
            </a:pPr>
            <a:r>
              <a:t>Decision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F"/>
                </a:solidFill>
                <a:latin typeface="Calibri"/>
              </a:defRPr>
            </a:pPr>
            <a:r>
              <a:t>A hyperplane is a decision boundary that divides the dataset into different classes based on feature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67EEA"/>
                </a:solidFill>
                <a:latin typeface="Calibri"/>
              </a:defRPr>
            </a:pPr>
            <a:r>
              <a:t>2D Space →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64BA2"/>
                </a:solidFill>
                <a:latin typeface="Calibri"/>
              </a:defRPr>
            </a:pPr>
            <a:r>
              <a:t>3D Space → Plane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93FB"/>
                </a:solidFill>
                <a:latin typeface="Calibri"/>
              </a:defRPr>
            </a:pPr>
            <a:r>
              <a:t>N-D Space → Hyperplane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93FB"/>
                </a:solidFill>
                <a:latin typeface="Calibri"/>
              </a:defRPr>
            </a:pPr>
            <a:r>
              <a:t>Mathematical Equation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286000"/>
            <a:ext cx="4754880" cy="109728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mbria Math"/>
              </a:defRPr>
            </a:pPr>
            <a:r>
              <a:t>w · x + b =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89120"/>
            <a:ext cx="112471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486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C8FF"/>
                </a:solidFill>
                <a:latin typeface="Calibri"/>
              </a:defRPr>
            </a:pPr>
            <a:r>
              <a:t>Weight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Determines orientation of hyperplane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572000"/>
            <a:ext cx="5486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C8FF"/>
                </a:solidFill>
                <a:latin typeface="Calibri"/>
              </a:defRPr>
            </a:pPr>
            <a:r>
              <a:t>Input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Data point coordinates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572000"/>
            <a:ext cx="548640" cy="54864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617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C8FF"/>
                </a:solidFill>
                <a:latin typeface="Calibri"/>
              </a:defRPr>
            </a:pPr>
            <a:r>
              <a:t>Bias Term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4C8"/>
                </a:solidFill>
                <a:latin typeface="Calibri"/>
              </a:defRPr>
            </a:pPr>
            <a:r>
              <a:t>Shifts hyperplane from origin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05  | 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4C8FF"/>
                </a:solidFill>
                <a:latin typeface="Calibri"/>
              </a:defRPr>
            </a:pPr>
            <a:r>
              <a:t>Visual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400" b="0">
                <a:solidFill>
                  <a:srgbClr val="F0F0FF"/>
                </a:solidFill>
                <a:latin typeface="Consolas"/>
              </a:defRPr>
            </a:pPr>
            <a:r>
              <a:t>        Class A</a:t>
            </a:r>
            <a:br/>
            <a:r>
              <a:t>           ●</a:t>
            </a:r>
            <a:br/>
            <a:r>
              <a:t>      ●    │    ○</a:t>
            </a:r>
            <a:br/>
            <a:r>
              <a:t>    ●      │      ○</a:t>
            </a:r>
            <a:br/>
            <a:r>
              <a:t>   ────────┼────────  ← Hyperplane</a:t>
            </a:r>
            <a:br/>
            <a:r>
              <a:t>    ○      │      ●</a:t>
            </a:r>
            <a:br/>
            <a:r>
              <a:t>      ○    │    ●</a:t>
            </a:r>
            <a:br/>
            <a:r>
              <a:t>           ●</a:t>
            </a:r>
            <a:br/>
            <a:r>
              <a:t>        Class B</a:t>
            </a:r>
            <a:br/>
            <a:r>
              <a:t>    </a:t>
            </a:r>
            <a:br/>
            <a:r>
              <a:t>    │←── Margin ──→│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93FB"/>
                </a:solidFill>
                <a:latin typeface="Calibri"/>
              </a:defRPr>
            </a:pPr>
            <a:r>
              <a:t>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F"/>
                </a:solidFill>
                <a:latin typeface="Calibri"/>
              </a:defRPr>
            </a:pPr>
            <a:r>
              <a:t>The margin is the perpendicular distance between the hyperplane and the nearest data points from each class (Support Vectors).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C864"/>
                </a:solidFill>
                <a:latin typeface="Calibri"/>
              </a:defRPr>
            </a:pPr>
            <a:r>
              <a:t>🎯 Primary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F"/>
                </a:solidFill>
                <a:latin typeface="Calibri"/>
              </a:defRPr>
            </a:pPr>
            <a:r>
              <a:t>Maximize the margin to achieve better generalization and robust classification performance.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69280"/>
            <a:ext cx="5486400" cy="731520"/>
          </a:xfrm>
          <a:prstGeom prst="roundRect">
            <a:avLst>
              <a:gd name="adj" fmla="val 5000"/>
            </a:avLst>
          </a:prstGeom>
          <a:solidFill>
            <a:srgbClr val="667EE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→ Larger margin = Better accuracy &amp; Generalization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06  |  Support Vectors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4008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93FB"/>
                </a:solidFill>
                <a:latin typeface="Calibri"/>
              </a:defRPr>
            </a:pPr>
            <a:r>
              <a:t>Critical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300" b="0">
                <a:solidFill>
                  <a:srgbClr val="F0F0FF"/>
                </a:solidFill>
                <a:latin typeface="Consolas"/>
              </a:defRPr>
            </a:pPr>
            <a:r>
              <a:t>        Class A (●)</a:t>
            </a:r>
            <a:br/>
            <a:r>
              <a:t>           ●</a:t>
            </a:r>
            <a:br/>
            <a:r>
              <a:t>      ●         ○</a:t>
            </a:r>
            <a:br/>
            <a:r>
              <a:t>    ★─────────────★  ← Margin Boundaries</a:t>
            </a:r>
            <a:br/>
            <a:r>
              <a:t>    ●      ═══      ○</a:t>
            </a:r>
            <a:br/>
            <a:r>
              <a:t>           ↑</a:t>
            </a:r>
            <a:br/>
            <a:r>
              <a:t>        Hyperplane</a:t>
            </a:r>
            <a:br/>
            <a:r>
              <a:t>    ○      ═══      ●</a:t>
            </a:r>
            <a:br/>
            <a:r>
              <a:t>    ★─────────────★</a:t>
            </a:r>
            <a:br/>
            <a:r>
              <a:t>      ○         ●</a:t>
            </a:r>
            <a:br/>
            <a:r>
              <a:t>           ●</a:t>
            </a:r>
            <a:br/>
            <a:r>
              <a:t>        Class B (●)</a:t>
            </a:r>
            <a:br/>
            <a:r>
              <a:t>        </a:t>
            </a:r>
            <a:br/>
            <a:r>
              <a:t>    ★ = Support Vectors (Critical Points)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45720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5544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4C8FF"/>
                </a:solidFill>
                <a:latin typeface="Calibri"/>
              </a:defRPr>
            </a:pPr>
            <a:r>
              <a:t>Key Properties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9456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Closest points to hyperplane</a:t>
            </a:r>
          </a:p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Lie exactly on margin boundaries</a:t>
            </a:r>
          </a:p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Define the optimal hyperplane position</a:t>
            </a:r>
          </a:p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Only these points affect the model</a:t>
            </a:r>
          </a:p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Removing others doesn't change boundary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66928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C864"/>
          </a:solidFill>
          <a:ln w="1905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864"/>
                </a:solidFill>
                <a:latin typeface="Calibri"/>
              </a:defRPr>
            </a:pPr>
            <a:r>
              <a:t>⭐ Support Vectors are the most important data points in SVM — they alone determine the decision boundary!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  |  Types of SVM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6000" y="164592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67EEA"/>
                </a:solidFill>
                <a:latin typeface="Calibri"/>
              </a:defRPr>
            </a:pPr>
            <a:r>
              <a:t>Linear SVM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Data is linearly separable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Single straight line can divide classes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Simple and computationally efficient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Best for low-dimensional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1645920"/>
            <a:ext cx="1371600" cy="137160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9202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093FB"/>
                </a:solidFill>
                <a:latin typeface="Calibri"/>
              </a:defRPr>
            </a:pPr>
            <a:r>
              <a:t>Non-Linear SVM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Data is NOT linearly separable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Uses Kernel Trick for transformation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Maps data to higher dimensions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Handles complex, real-world datasets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08  |  Kernel Trick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4C8FF"/>
                </a:solidFill>
                <a:latin typeface="Calibri"/>
              </a:defRPr>
            </a:pPr>
            <a:r>
              <a:t>The Magic 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F"/>
                </a:solidFill>
                <a:latin typeface="Calibri"/>
              </a:defRPr>
            </a:pPr>
            <a:r>
              <a:t>Transforms data from low-dimensional space to higher-dimensional space where it becomes linearly separable — without actually computing the coordinates in that space!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37160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6459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 algn="ctr">
              <a:defRPr sz="1300" b="0">
                <a:solidFill>
                  <a:srgbClr val="F0F0FF"/>
                </a:solidFill>
                <a:latin typeface="Consolas"/>
              </a:defRPr>
            </a:pPr>
            <a:r>
              <a:t>2D Space (Not Separable)    →    3D Space (Separable)</a:t>
            </a:r>
            <a:br/>
            <a:br/>
            <a:r>
              <a:t>      ○  ●  ○                      ○</a:t>
            </a:r>
            <a:br/>
            <a:r>
              <a:t>    ●   \ /   ●                   /|\  ●</a:t>
            </a:r>
            <a:br/>
            <a:r>
              <a:t>      ○  X  ○        →           / | \  ○</a:t>
            </a:r>
            <a:br/>
            <a:r>
              <a:t>    ●   / \   ●                 ●  |  ○</a:t>
            </a:r>
            <a:br/>
            <a:r>
              <a:t>      ○  ●  ○                      |</a:t>
            </a:r>
            <a:br/>
            <a:r>
              <a:t>                                  ●</a:t>
            </a:r>
            <a:br/>
            <a:r>
              <a:t>                               Hyperplane</a:t>
            </a:r>
            <a:br/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247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Common Kernel Functions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20640"/>
            <a:ext cx="2743200" cy="128016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67EEA"/>
                </a:solidFill>
                <a:latin typeface="Calibri"/>
              </a:defRPr>
            </a:pPr>
            <a:r>
              <a:t>Linear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K(x,y) = xᵀy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F"/>
                </a:solidFill>
                <a:latin typeface="Calibri"/>
              </a:defRPr>
            </a:pPr>
            <a:r>
              <a:t>✓ Simple, fast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5120640"/>
            <a:ext cx="2743200" cy="128016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64BA2"/>
                </a:solidFill>
                <a:latin typeface="Calibri"/>
              </a:defRPr>
            </a:pPr>
            <a:r>
              <a:t>Polynomial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K(x,y) = (γxᵀy + r)ᵈ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F"/>
                </a:solidFill>
                <a:latin typeface="Calibri"/>
              </a:defRPr>
            </a:pPr>
            <a:r>
              <a:t>✓ Image processing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120640"/>
            <a:ext cx="2743200" cy="128016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93FB"/>
                </a:solidFill>
                <a:latin typeface="Calibri"/>
              </a:defRPr>
            </a:pPr>
            <a:r>
              <a:t>RBF (Gaussian)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K(x,y) = exp(-γ||x-y||²)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F"/>
                </a:solidFill>
                <a:latin typeface="Calibri"/>
              </a:defRPr>
            </a:pPr>
            <a:r>
              <a:t>✓ Most popular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5120640"/>
            <a:ext cx="2743200" cy="128016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212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C8FF"/>
                </a:solidFill>
                <a:latin typeface="Calibri"/>
              </a:defRPr>
            </a:pPr>
            <a:r>
              <a:t>Sigmoid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532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C8"/>
                </a:solidFill>
                <a:latin typeface="Calibri"/>
              </a:defRPr>
            </a:pPr>
            <a:r>
              <a:t>K(x,y) = tanh(γxᵀy + 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5852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F"/>
                </a:solidFill>
                <a:latin typeface="Calibri"/>
              </a:defRPr>
            </a:pPr>
            <a:r>
              <a:t>✓ Neural network-like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09  |  Hard vs Soft Margin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3657600" cy="7315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🔒 HARD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Strict separation required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NO misclassification allowed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Very sensitive to outliers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Only works with perfect data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C = ∞ (infinity)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Risk: 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1554480"/>
            <a:ext cx="365760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6916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🔓 SOFT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Allows some misclassification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Uses slack variables ξ ≥ 0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Robust to outliers &amp; noise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Better real-world performance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C = 1.0 (tunable)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Better generalization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669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C864"/>
          </a:solidFill>
          <a:ln w="1905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864"/>
                </a:solidFill>
                <a:latin typeface="Calibri"/>
              </a:defRPr>
            </a:pPr>
            <a:r>
              <a:t>⚡ Parameter C: Controls trade-off between smooth boundary and training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 |  Mathematical Objective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093FB"/>
                </a:solidFill>
                <a:latin typeface="Calibri"/>
              </a:defRPr>
            </a:pPr>
            <a:r>
              <a:t>Optimization Problem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94560"/>
            <a:ext cx="4846320" cy="914400"/>
          </a:xfrm>
          <a:prstGeom prst="roundRect">
            <a:avLst/>
          </a:prstGeom>
          <a:solidFill>
            <a:srgbClr val="28283C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377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mbria Math"/>
              </a:defRPr>
            </a:pPr>
            <a:r>
              <a:t>Minimize:  ½ ||w||²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C8"/>
                </a:solidFill>
                <a:latin typeface="Calibri"/>
              </a:defRPr>
            </a:pPr>
            <a:r>
              <a:t>Subject to constraints: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840480"/>
            <a:ext cx="5760720" cy="82296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023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4C8FF"/>
                </a:solidFill>
                <a:latin typeface="Cambria Math"/>
              </a:defRPr>
            </a:pPr>
            <a:r>
              <a:t>yᵢ (w · xᵢ + b) ≥ 1    for all 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377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  <a:latin typeface="Calibri"/>
              </a:defRPr>
            </a:pPr>
            <a:r>
              <a:t>What this ensures: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Maximum margin between classes</a:t>
            </a:r>
          </a:p>
          <a:p>
            <a:pPr>
              <a:spcAft>
                <a:spcPts val="1200"/>
              </a:spcAft>
              <a:defRPr sz="1600">
                <a:solidFill>
                  <a:srgbClr val="F0F0FF"/>
                </a:solidFill>
                <a:latin typeface="Calibri"/>
              </a:defRPr>
            </a:pPr>
            <a:r>
              <a:t>▸  Correct classification of all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937760"/>
            <a:ext cx="5486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5120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64BA2"/>
                </a:solidFill>
                <a:latin typeface="Calibri"/>
              </a:defRPr>
            </a:pPr>
            <a:r>
              <a:t>Why minimize ||w||?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577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F"/>
                </a:solidFill>
                <a:latin typeface="Calibri"/>
              </a:defRPr>
            </a:pPr>
            <a:r>
              <a:t>Minimizing ||w|| is equivalent to maximizing the margin (2/||w||)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 |  Advantages of SVM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155448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High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Effective in high-dimensional spaces with clear margin of separation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40680" y="1554480"/>
            <a:ext cx="1371600" cy="137160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High Dimensionality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Works efficiently even when number of features &gt; samples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81160" y="155448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Memory 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Uses only support vectors, not entire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4206240"/>
            <a:ext cx="1371600" cy="137160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44805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Versatile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Different kernel functions for various decision functions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40680" y="420624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44805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🛡️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Less Overfitting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Generalization is controlled by regularization parameter 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81160" y="4206240"/>
            <a:ext cx="1371600" cy="137160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44805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Effective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Particularly powerful for small to medium datasets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 |  Disadvantages of SVM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1554480"/>
            <a:ext cx="1371600" cy="1371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Computationally Intensive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Training time increases significantly with large datasets (O(n²) to O(n³))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40680" y="1554480"/>
            <a:ext cx="1371600" cy="13716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Parameter 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Selecting optimal C and kernel parameters requires careful cross-validation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81160" y="1554480"/>
            <a:ext cx="1371600" cy="1371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82880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17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Noise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83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Overlapping classes or noisy data can significantly reduce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0200" y="4206240"/>
            <a:ext cx="1371600" cy="13716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44805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Kernel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Choosing the right kernel function is crucial and problem-dependent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40680" y="4206240"/>
            <a:ext cx="1371600" cy="13716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44805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 Probability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Basic SVM doesn't provide probability estimates directly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0233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81160" y="4206240"/>
            <a:ext cx="1371600" cy="13716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448056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5669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Memory Usage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350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B4C8"/>
                </a:solidFill>
                <a:latin typeface="Calibri"/>
              </a:defRPr>
            </a:pPr>
            <a:r>
              <a:t>Stores support vectors; can be memory-intensive for large datasets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  |  Python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6858000" cy="5029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4C8FF"/>
                </a:solidFill>
                <a:latin typeface="Calibri"/>
              </a:defRPr>
            </a:pPr>
            <a:r>
              <a:t>scikit-learn 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6400800" cy="4114800"/>
          </a:xfrm>
          <a:prstGeom prst="rect">
            <a:avLst/>
          </a:prstGeom>
          <a:solidFill>
            <a:srgbClr val="1E1E28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Import required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9664"/>
                </a:solidFill>
                <a:latin typeface="Consolas"/>
              </a:defRPr>
            </a:pPr>
            <a:r>
              <a:t>from sklearn import 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8336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9664"/>
                </a:solidFill>
                <a:latin typeface="Consolas"/>
              </a:defRPr>
            </a:pPr>
            <a:r>
              <a:t>from sklearn import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9504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9664"/>
                </a:solidFill>
                <a:latin typeface="Consolas"/>
              </a:defRPr>
            </a:pPr>
            <a:r>
              <a:t>from sklearn.model_selection import train_test_split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Load sample dataset (Iris)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93008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iris = datasets.load_iris()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6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X = iris.data      #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95344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y = iris.target    #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96512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Split data into train/test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98848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X_train, X_test, y_train, y_test = train_test_split(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00016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    X, y, test_size=0.2, random_state=42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01183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1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1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Create SVM classifier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04687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model = svm.SVC(kernel='rbf', C=1.0, gamma='scale')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05855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914400" y="5907023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Train the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108191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64"/>
                </a:solidFill>
                <a:latin typeface="Consolas"/>
              </a:defRPr>
            </a:pPr>
            <a:r>
              <a:t>model.fit(X_train, y_train)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30935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914400" y="6510527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Make predictions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711695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prediction = model.predict([X[0]])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912863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64"/>
                </a:solidFill>
                <a:latin typeface="Consolas"/>
              </a:defRPr>
            </a:pPr>
            <a:r>
              <a:t>print(f"Prediction: {prediction}")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7114031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C8"/>
                </a:solidFill>
                <a:latin typeface="Consolas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914400" y="7315199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78"/>
                </a:solidFill>
                <a:latin typeface="Consolas"/>
              </a:defRPr>
            </a:pPr>
            <a:r>
              <a:t># Check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7516367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C8C8"/>
                </a:solidFill>
                <a:latin typeface="Consolas"/>
              </a:defRPr>
            </a:pPr>
            <a:r>
              <a:t>accuracy = model.score(X_test, y_test)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7717535"/>
            <a:ext cx="6035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64"/>
                </a:solidFill>
                <a:latin typeface="Consolas"/>
              </a:defRPr>
            </a:pPr>
            <a:r>
              <a:t>print(f"Accuracy: {accuracy:.2f}")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1371600"/>
            <a:ext cx="420624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8096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93FB"/>
                </a:solidFill>
                <a:latin typeface="Calibri"/>
              </a:defRPr>
            </a:pPr>
            <a:r>
              <a:t>Sample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10312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F0FF"/>
                </a:solidFill>
                <a:latin typeface="Consolas"/>
              </a:defRPr>
            </a:pPr>
            <a:r>
              <a:t>&gt;&gt;&gt; Prediction: [0]</a:t>
            </a:r>
            <a:br/>
            <a:r>
              <a:t>&gt;&gt;&gt; Accuracy: 0.97</a:t>
            </a:r>
            <a:br/>
            <a:br/>
            <a:r>
              <a:t>Model trained successfully!</a:t>
            </a:r>
            <a:br/>
            <a:r>
              <a:t>97% accuracy on test data.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3840480"/>
            <a:ext cx="420624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023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  <a:latin typeface="Calibri"/>
              </a:defRPr>
            </a:pPr>
            <a:r>
              <a:t>Key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480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F"/>
                </a:solidFill>
                <a:latin typeface="Calibri"/>
              </a:defRPr>
            </a:pPr>
            <a:r>
              <a:t>1. Import sklearn.svm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846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F"/>
                </a:solidFill>
                <a:latin typeface="Calibri"/>
              </a:defRPr>
            </a:pPr>
            <a:r>
              <a:t>2. Load/prepare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52120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F"/>
                </a:solidFill>
                <a:latin typeface="Calibri"/>
              </a:defRPr>
            </a:pPr>
            <a:r>
              <a:t>3. Create SVC object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577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F"/>
                </a:solidFill>
                <a:latin typeface="Calibri"/>
              </a:defRPr>
            </a:pPr>
            <a:r>
              <a:t>4. Fit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943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0F0FF"/>
                </a:solidFill>
                <a:latin typeface="Calibri"/>
              </a:defRPr>
            </a:pPr>
            <a:r>
              <a:t>5. Predict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  |  Real-World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🖼️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Image 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Categorizing images, object recognition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Security systems, photo tagging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Spam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Email filtering, content 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Text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Sentiment analysis, topic labeling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✍️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Handwriting Recognition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OCR, digit recognition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02336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Bioinformatics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5486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Gene classification, protein analysis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2336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Medical Diagnosis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486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Disease prediction, tumor classification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402336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206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Fraud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486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C8"/>
                </a:solidFill>
                <a:latin typeface="Calibri"/>
              </a:defRPr>
            </a:pPr>
            <a:r>
              <a:t>Credit card fraud, anomaly detection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  |  Real-Life Example: Spam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Calibri"/>
              </a:defRPr>
            </a:pPr>
            <a:r>
              <a:t>The Problem 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Millions of emails sent daily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Need to filter spam vs legitimate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Traditional rules are insufficient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Need intelligent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SVM Solution 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Features: word frequency, sender, links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Trains on labeled spam/ham data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Finds optimal boundary</a:t>
            </a:r>
          </a:p>
          <a:p>
            <a:pPr>
              <a:spcAft>
                <a:spcPts val="1200"/>
              </a:spcAft>
              <a:defRPr sz="1700">
                <a:solidFill>
                  <a:srgbClr val="F0F0FF"/>
                </a:solidFill>
                <a:latin typeface="Calibri"/>
              </a:defRPr>
            </a:pPr>
            <a:r>
              <a:t>▸  Classifies new emails automatically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4C8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12080"/>
            <a:ext cx="2011680" cy="109728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📥 Collect Emails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788920" y="5577840"/>
            <a:ext cx="365760" cy="365760"/>
          </a:xfrm>
          <a:prstGeom prst="rightArrow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26080" y="5212080"/>
            <a:ext cx="2011680" cy="109728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5394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🔍 Extract Features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983480" y="5577840"/>
            <a:ext cx="365760" cy="365760"/>
          </a:xfrm>
          <a:prstGeom prst="rightArrow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5212080"/>
            <a:ext cx="2011680" cy="109728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5394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🤖 Train SVM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178040" y="5577840"/>
            <a:ext cx="365760" cy="365760"/>
          </a:xfrm>
          <a:prstGeom prst="rightArrow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199" y="5212080"/>
            <a:ext cx="2011680" cy="109728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39" y="5394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⚡ Classify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72599" y="5577840"/>
            <a:ext cx="365760" cy="365760"/>
          </a:xfrm>
          <a:prstGeom prst="rightArrow">
            <a:avLst/>
          </a:prstGeom>
          <a:solidFill>
            <a:srgbClr val="64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5212080"/>
            <a:ext cx="2011680" cy="1097280"/>
          </a:xfrm>
          <a:prstGeom prst="roundRect">
            <a:avLst/>
          </a:prstGeom>
          <a:solidFill>
            <a:srgbClr val="28283C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53949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🎯 Filter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16  | 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Powerful &amp; Reliable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57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8"/>
                </a:solidFill>
                <a:latin typeface="Calibri"/>
              </a:defRPr>
            </a:pPr>
            <a:r>
              <a:t>SVM is one of the most robust classification algorithms in machine learning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606040"/>
            <a:ext cx="640080" cy="64008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Versatile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8"/>
                </a:solidFill>
                <a:latin typeface="Calibri"/>
              </a:defRPr>
            </a:pPr>
            <a:r>
              <a:t>Handles both linear and non-linear data through kernel functions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66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Optimal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776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8"/>
                </a:solidFill>
                <a:latin typeface="Calibri"/>
              </a:defRPr>
            </a:pPr>
            <a:r>
              <a:t>Maximizing margin leads to better generalization on unseen data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26280"/>
            <a:ext cx="640080" cy="64008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17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Wide Application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937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C8"/>
                </a:solidFill>
                <a:latin typeface="Calibri"/>
              </a:defRPr>
            </a:pPr>
            <a:r>
              <a:t>Used across industries from healthcare to finance to technology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69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FFC864"/>
          </a:solidFill>
          <a:ln w="19050">
            <a:solidFill>
              <a:srgbClr val="FF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C864"/>
                </a:solidFill>
                <a:latin typeface="Calibri"/>
              </a:defRPr>
            </a:pPr>
            <a:r>
              <a:t>⭐ SVM remains a widely used algorithm for real-world machine learning problems requiring high accuracy and robust classification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0" y="1828800"/>
            <a:ext cx="6675120" cy="3200400"/>
          </a:xfrm>
          <a:prstGeom prst="roundRect">
            <a:avLst>
              <a:gd name="adj" fmla="val 5000"/>
            </a:avLst>
          </a:prstGeom>
          <a:solidFill>
            <a:srgbClr val="667EEA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28600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You! 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347472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0FF"/>
                </a:solidFill>
                <a:latin typeface="Calibri"/>
              </a:defRPr>
            </a:pPr>
            <a:r>
              <a:t>Thank you for your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11480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C8"/>
                </a:solidFill>
                <a:latin typeface="Calibri"/>
              </a:defRPr>
            </a:pPr>
            <a:r>
              <a:t>Hope you understood SVM clearly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093FB"/>
                </a:solidFill>
                <a:latin typeface="Calibri"/>
              </a:defRPr>
            </a:pPr>
            <a:r>
              <a:t>Presented by: Prabhu Shankar Mund aka Raj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852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C8"/>
                </a:solidFill>
                <a:latin typeface="Calibri"/>
              </a:defRPr>
            </a:pPr>
            <a:r>
              <a:t>BCA | Reg. No: 240714100093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48640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5029200"/>
            <a:ext cx="1371600" cy="1371600"/>
          </a:xfrm>
          <a:prstGeom prst="ellipse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011680"/>
            <a:ext cx="57607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64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37744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Any Questions? 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57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C8FF"/>
                </a:solidFill>
                <a:latin typeface="Calibri"/>
              </a:defRPr>
            </a:pPr>
            <a:r>
              <a:t>I would be happy to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029200"/>
            <a:ext cx="48463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F093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0F0FF"/>
                </a:solidFill>
                <a:latin typeface="Calibri"/>
              </a:defRPr>
            </a:pPr>
            <a:r>
              <a:t>📧 prabhushankar.mund@example.com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C8"/>
                </a:solidFill>
                <a:latin typeface="Calibri"/>
              </a:defRPr>
            </a:pPr>
            <a:r>
              <a:t>🎓 BCA Student | Machine Learning Enthusiast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